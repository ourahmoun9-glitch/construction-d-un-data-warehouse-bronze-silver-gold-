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480560"/>
            <a:ext cx="8823960" cy="662940"/>
          </a:xfrm>
          <a:prstGeom prst="rect">
            <a:avLst/>
          </a:prstGeom>
          <a:solidFill>
            <a:srgbClr val="10184A"/>
          </a:solidFill>
          <a:ln w="12700">
            <a:solidFill>
              <a:srgbClr val="1018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0584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-457200"/>
            <a:ext cx="2286000" cy="22860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· Silver · Gold Architecture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B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 from raw CSV sources to Power BI dashboards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5537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·  T-SQL  ·  Power BI  ·  GitHub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Sources  →  Bronze  →  Silver  →  Gold  →  Power BI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" y="1508760"/>
            <a:ext cx="1600200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" y="1554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" y="2148840"/>
            <a:ext cx="1600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(ERP/CRM)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37360" y="2103120"/>
            <a:ext cx="3657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508760"/>
            <a:ext cx="1600200" cy="1371600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1554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🟤 Bronze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148840"/>
            <a:ext cx="1600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sources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103120"/>
            <a:ext cx="3657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1508760"/>
            <a:ext cx="1600200" cy="1371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94760" y="1554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Silver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2148840"/>
            <a:ext cx="1600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2103120"/>
            <a:ext cx="3657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1508760"/>
            <a:ext cx="160020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1554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Gold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2148840"/>
            <a:ext cx="1600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model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23760" y="2103120"/>
            <a:ext cx="3657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1508760"/>
            <a:ext cx="160020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52360" y="1554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Power BI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52360" y="2148840"/>
            <a:ext cx="1600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6766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🟤 Bronze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 raw CSV files with no transformation (faithful copy)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⚪ Silver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TRIM, UPPER, CAST, deduplication, fix inconsistencies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 — dim_store, dim_account, fact_gl 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📊 Power 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dashboards connecting to the Gold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&amp; Silver Layers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🟤  BRONZE LAYER — Ingestion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39319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81328"/>
            <a:ext cx="3840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DataWarehouse database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39319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67128"/>
            <a:ext cx="3840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schemas: bronze, silver, gold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39319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852928"/>
            <a:ext cx="3840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5 tables: transactions, account,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account_mapping, store, store_master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20440"/>
            <a:ext cx="39319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538728"/>
            <a:ext cx="3840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CSV files via BULK INSERT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06240"/>
            <a:ext cx="39319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224528"/>
            <a:ext cx="3840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checks &amp; row count validation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16052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914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 SILVER LAYER — Cleaning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41605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481328"/>
            <a:ext cx="4069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whitespace, UPPER for codes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148840"/>
            <a:ext cx="41605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167128"/>
            <a:ext cx="4069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to correct types (DECIMAL, DATE…)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1605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852928"/>
            <a:ext cx="4069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'P L' → 'P&amp;L' inconsistency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1605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538728"/>
            <a:ext cx="4069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 &amp; remove duplicates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4206240"/>
            <a:ext cx="41605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224528"/>
            <a:ext cx="4069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clean tables created in silver schema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97680" y="914400"/>
            <a:ext cx="36576" cy="3886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— Star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17520" y="1645920"/>
            <a:ext cx="3108960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fact_gl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3240" y="2148840"/>
            <a:ext cx="301752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transaction_id
</a:t>
            </a:r>
            <a:pPr indent="0" marL="0">
              <a:buNone/>
            </a:pPr>
            <a:r>
              <a:rPr lang="en-US" sz="1100" dirty="0">
                <a:solidFill>
                  <a:srgbClr val="101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transaction_date
</a:t>
            </a:r>
            <a:pPr indent="0" marL="0">
              <a:buNone/>
            </a:pPr>
            <a:r>
              <a:rPr lang="en-US" sz="1100" dirty="0">
                <a:solidFill>
                  <a:srgbClr val="101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store_code
</a:t>
            </a:r>
            <a:pPr indent="0" marL="0">
              <a:buNone/>
            </a:pPr>
            <a:r>
              <a:rPr lang="en-US" sz="1100" dirty="0">
                <a:solidFill>
                  <a:srgbClr val="101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account_number
</a:t>
            </a:r>
            <a:pPr indent="0" marL="0">
              <a:buNone/>
            </a:pPr>
            <a:r>
              <a:rPr lang="en-US" sz="1100" dirty="0">
                <a:solidFill>
                  <a:srgbClr val="101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amount_local
</a:t>
            </a:r>
            <a:pPr indent="0" marL="0">
              <a:buNone/>
            </a:pPr>
            <a:r>
              <a:rPr lang="en-US" sz="1100" dirty="0">
                <a:solidFill>
                  <a:srgbClr val="101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
</a:t>
            </a:r>
            <a:pPr indent="0" marL="0">
              <a:buNone/>
            </a:pPr>
            <a:r>
              <a:rPr lang="en-US" sz="1100" dirty="0">
                <a:solidFill>
                  <a:srgbClr val="101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document_number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256032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246888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store_code  (PK)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store_name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store_type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920240"/>
            <a:ext cx="2560320" cy="1828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dim_account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246888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account_number  (PK)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account_name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account_type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pl_line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statement_type
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2807208"/>
            <a:ext cx="2286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807208"/>
            <a:ext cx="2286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" y="3822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on store_code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3822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on account_number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245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Gold objects are SQL VIEWS — no data duplication. ROW_NUMBER() OVER (PARTITION BY account_number) deduplicates dim_account.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0184A"/>
          </a:solidFill>
          <a:ln w="12700">
            <a:solidFill>
              <a:srgbClr val="101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Power BI Reporting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840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Quality Checks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3840480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1E58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35608"/>
            <a:ext cx="3703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— </a:t>
            </a:r>
            <a:pPr indent="0" marL="0">
              <a:buNone/>
            </a:pPr>
            <a:r>
              <a:rPr lang="en-US" sz="11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compared across Bronze ↔ Silver ↔ Gold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75688"/>
            <a:ext cx="3840480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1E58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093976"/>
            <a:ext cx="3703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detection — </a:t>
            </a:r>
            <a:pPr indent="0" marL="0">
              <a:buNone/>
            </a:pPr>
            <a:r>
              <a:rPr lang="en-US" sz="11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SUM(CASE WHEN col IS NULL) for every column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34056"/>
            <a:ext cx="3840480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1E58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752344"/>
            <a:ext cx="3703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keys — </a:t>
            </a:r>
            <a:pPr indent="0" marL="0">
              <a:buNone/>
            </a:pPr>
            <a:r>
              <a:rPr lang="en-US" sz="11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HAVING COUNT(*) &gt; 1 on primary keys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392424"/>
            <a:ext cx="3840480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1E58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410712"/>
            <a:ext cx="3703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integrity — </a:t>
            </a:r>
            <a:pPr indent="0" marL="0">
              <a:buNone/>
            </a:pPr>
            <a:r>
              <a:rPr lang="en-US" sz="11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to detect orphan records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050792"/>
            <a:ext cx="3840480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1E58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4069080"/>
            <a:ext cx="3703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</a:t>
            </a:r>
            <a:pPr indent="0" marL="0">
              <a:buNone/>
            </a:pPr>
            <a:r>
              <a:rPr lang="en-US" sz="11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OVER PARTITION to keep 1 row per key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1605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914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 Dashboards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160520" cy="594360"/>
          </a:xfrm>
          <a:prstGeom prst="rect">
            <a:avLst/>
          </a:prstGeom>
          <a:solidFill>
            <a:srgbClr val="3B22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435608"/>
            <a:ext cx="4023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—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→ SQL Server, Gold layer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075688"/>
            <a:ext cx="4160520" cy="594360"/>
          </a:xfrm>
          <a:prstGeom prst="rect">
            <a:avLst/>
          </a:prstGeom>
          <a:solidFill>
            <a:srgbClr val="3B22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093976"/>
            <a:ext cx="4023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View —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financial performance overview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734056"/>
            <a:ext cx="4160520" cy="594360"/>
          </a:xfrm>
          <a:prstGeom prst="rect">
            <a:avLst/>
          </a:prstGeom>
          <a:solidFill>
            <a:srgbClr val="3B22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752344"/>
            <a:ext cx="4023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cost analysis by category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392424"/>
            <a:ext cx="4160520" cy="594360"/>
          </a:xfrm>
          <a:prstGeom prst="rect">
            <a:avLst/>
          </a:prstGeom>
          <a:solidFill>
            <a:srgbClr val="3B22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3410712"/>
            <a:ext cx="4023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—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tracking of KPIs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4050792"/>
            <a:ext cx="4160520" cy="594360"/>
          </a:xfrm>
          <a:prstGeom prst="rect">
            <a:avLst/>
          </a:prstGeom>
          <a:solidFill>
            <a:srgbClr val="3B22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4069080"/>
            <a:ext cx="4023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drill —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breakdown by store &amp; region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CSV → Bronze → Silver → Gold → Power BI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 Project</dc:title>
  <dc:subject>PptxGenJS Presentation</dc:subject>
  <dc:creator>PptxGenJS</dc:creator>
  <cp:lastModifiedBy>PptxGenJS</cp:lastModifiedBy>
  <cp:revision>1</cp:revision>
  <dcterms:created xsi:type="dcterms:W3CDTF">2026-05-15T11:28:52Z</dcterms:created>
  <dcterms:modified xsi:type="dcterms:W3CDTF">2026-05-15T11:28:52Z</dcterms:modified>
</cp:coreProperties>
</file>